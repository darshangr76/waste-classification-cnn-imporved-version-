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F2D27"/>
                </a:solidFill>
                <a:latin typeface="Aptos Display"/>
              </a:defRPr>
            </a:pPr>
            <a:r>
              <a:t>ANVAYA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66048"/>
                </a:solidFill>
                <a:latin typeface="Aptos"/>
              </a:defRPr>
            </a:pPr>
            <a:r>
              <a:t>Connecting travellers with places, people &amp; stories.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9476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794760"/>
            <a:ext cx="73152" cy="1234440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977640"/>
            <a:ext cx="2880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SIH 2025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Problem Statement: SIH25032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79476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3794760"/>
            <a:ext cx="73152" cy="1234440"/>
          </a:xfrm>
          <a:prstGeom prst="rect">
            <a:avLst/>
          </a:prstGeom>
          <a:solidFill>
            <a:srgbClr val="3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977640"/>
            <a:ext cx="2880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Domain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Travel &amp; Tourism • Software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79476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3794760"/>
            <a:ext cx="73152" cy="1234440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3977640"/>
            <a:ext cx="2880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Focus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Eco + Cultural Tourism in Jharkhand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35C"/>
                </a:solidFill>
                <a:latin typeface="Aptos"/>
              </a:defRPr>
            </a:pPr>
            <a:r>
              <a:t>ANVAYA  •  SIH25032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27"/>
                </a:solidFill>
                <a:latin typeface="Aptos Display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35C"/>
                </a:solidFill>
                <a:latin typeface="Aptos"/>
              </a:defRPr>
            </a:pPr>
            <a:r>
              <a:t>Why promoting tourism needs more than another travel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73152" cy="1874519"/>
          </a:xfrm>
          <a:prstGeom prst="rect">
            <a:avLst/>
          </a:prstGeom>
          <a:solidFill>
            <a:srgbClr val="3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3017520" cy="1554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Discoverability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Lesser-known eco and cultural destinations can remain outside the mainstream tourist journey.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554480"/>
            <a:ext cx="73152" cy="1874519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37360"/>
            <a:ext cx="3017520" cy="1554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Fragmented Experience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Tourists often need separate sources for places, routes, stories, stays and local experiences.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554480"/>
            <a:ext cx="73152" cy="1874519"/>
          </a:xfrm>
          <a:prstGeom prst="rect">
            <a:avLst/>
          </a:prstGeom>
          <a:solidFill>
            <a:srgbClr val="3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37360"/>
            <a:ext cx="3017520" cy="1554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Local Participation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Local communities, guides and artisans need stronger visibility within the tourism ecosystem.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384048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3840480"/>
            <a:ext cx="73152" cy="1874519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4023360"/>
            <a:ext cx="3017520" cy="1554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Responsible Travel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Tourism growth should consider destination pressure and environmental sensitivity.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73152" cy="1874519"/>
          </a:xfrm>
          <a:prstGeom prst="rect">
            <a:avLst/>
          </a:prstGeom>
          <a:solidFill>
            <a:srgbClr val="3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023360"/>
            <a:ext cx="3017520" cy="1554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Better Insights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Authorities need useful analytics to understand demand, trends and tourism impact.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35C"/>
                </a:solidFill>
                <a:latin typeface="Aptos"/>
              </a:defRPr>
            </a:pPr>
            <a:r>
              <a:t>ANVAYA  •  SIH25032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27"/>
                </a:solidFill>
                <a:latin typeface="Aptos Display"/>
              </a:defRPr>
            </a:pPr>
            <a:r>
              <a:t>What We Want to Solve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35C"/>
                </a:solidFill>
                <a:latin typeface="Aptos"/>
              </a:defRPr>
            </a:pPr>
            <a:r>
              <a:t>A connected tourism ecosystem rather than a destination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D27"/>
                </a:solidFill>
                <a:latin typeface="Aptos"/>
              </a:defRPr>
            </a:pPr>
            <a:r>
              <a:t>Help travellers discover eco-cultural experiences that match their interests, time and budget.</a:t>
            </a:r>
          </a:p>
          <a:p>
            <a:pPr>
              <a:spcAft>
                <a:spcPts val="1200"/>
              </a:spcAft>
              <a:defRPr sz="2000">
                <a:solidFill>
                  <a:srgbClr val="1F2D27"/>
                </a:solidFill>
                <a:latin typeface="Aptos"/>
              </a:defRPr>
            </a:pPr>
            <a:r>
              <a:t>Promote lesser-known destinations and authentic local experiences.</a:t>
            </a:r>
          </a:p>
          <a:p>
            <a:pPr>
              <a:spcAft>
                <a:spcPts val="1200"/>
              </a:spcAft>
              <a:defRPr sz="2000">
                <a:solidFill>
                  <a:srgbClr val="1F2D27"/>
                </a:solidFill>
                <a:latin typeface="Aptos"/>
              </a:defRPr>
            </a:pPr>
            <a:r>
              <a:t>Connect tourists with verified community-based tourism opportunities.</a:t>
            </a:r>
          </a:p>
          <a:p>
            <a:pPr>
              <a:spcAft>
                <a:spcPts val="1200"/>
              </a:spcAft>
              <a:defRPr sz="2000">
                <a:solidFill>
                  <a:srgbClr val="1F2D27"/>
                </a:solidFill>
                <a:latin typeface="Aptos"/>
              </a:defRPr>
            </a:pPr>
            <a:r>
              <a:t>Encourage responsible choices without making the experience complicated.</a:t>
            </a:r>
          </a:p>
          <a:p>
            <a:pPr>
              <a:spcAft>
                <a:spcPts val="1200"/>
              </a:spcAft>
              <a:defRPr sz="2000">
                <a:solidFill>
                  <a:srgbClr val="1F2D27"/>
                </a:solidFill>
                <a:latin typeface="Aptos"/>
              </a:defRPr>
            </a:pPr>
            <a:r>
              <a:t>Give tourism stakeholders a clearer view of demand, trends and destination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35C"/>
                </a:solidFill>
                <a:latin typeface="Aptos"/>
              </a:defRPr>
            </a:pPr>
            <a:r>
              <a:t>ANVAYA  •  SIH25032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27"/>
                </a:solidFill>
                <a:latin typeface="Aptos Display"/>
              </a:defRPr>
            </a:pPr>
            <a:r>
              <a:t>Our Solution — ANVAYA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35C"/>
                </a:solidFill>
                <a:latin typeface="Aptos"/>
              </a:defRPr>
            </a:pPr>
            <a:r>
              <a:t>A smart digital platform for discovering and experiencing Jharkhand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73152" cy="1417320"/>
          </a:xfrm>
          <a:prstGeom prst="rect">
            <a:avLst/>
          </a:prstGeom>
          <a:solidFill>
            <a:srgbClr val="3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306323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1 • Understand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Learns traveller preferences: interests, duration, budget and starting 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50876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70832" y="1508760"/>
            <a:ext cx="73152" cy="1417320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691639"/>
            <a:ext cx="306323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2 • Recommend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Builds a personalized eco-cultural journey using destination and experience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5864" y="150876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55864" y="1508760"/>
            <a:ext cx="73152" cy="1417320"/>
          </a:xfrm>
          <a:prstGeom prst="rect">
            <a:avLst/>
          </a:prstGeom>
          <a:solidFill>
            <a:srgbClr val="3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4" y="1691639"/>
            <a:ext cx="306323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3 • Experience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Guides the traveller through places, stories, local experiences and routes.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42032" y="365760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42032" y="3657600"/>
            <a:ext cx="73152" cy="1417320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0632" y="3840480"/>
            <a:ext cx="306323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4 • Connect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Brings verified guides, artisans, homestays and community experiences closer to tourists.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365760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3657600"/>
            <a:ext cx="73152" cy="1417320"/>
          </a:xfrm>
          <a:prstGeom prst="rect">
            <a:avLst/>
          </a:prstGeom>
          <a:solidFill>
            <a:srgbClr val="3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3840480"/>
            <a:ext cx="306323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5 • Learn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Uses feedback and tourism data to improve recommendations and support stakeholders.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35C"/>
                </a:solidFill>
                <a:latin typeface="Aptos"/>
              </a:defRPr>
            </a:pPr>
            <a:r>
              <a:t>ANVAYA  •  SIH25032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27"/>
                </a:solidFill>
                <a:latin typeface="Aptos Display"/>
              </a:defRPr>
            </a:pPr>
            <a:r>
              <a:t>A Typical Tourist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35C"/>
                </a:solidFill>
                <a:latin typeface="Aptos"/>
              </a:defRPr>
            </a:pPr>
            <a:r>
              <a:t>Example: 3 days • ₹8,000 • Nature + Tribal Culture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057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73152" cy="2331720"/>
          </a:xfrm>
          <a:prstGeom prst="rect">
            <a:avLst/>
          </a:prstGeom>
          <a:solidFill>
            <a:srgbClr val="3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64592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01  Preferences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Ranchi • 3 days • ₹8,000</a:t>
            </a:r>
            <a:br/>
            <a:r>
              <a:t>Nature + Culture</a:t>
            </a:r>
          </a:p>
        </p:txBody>
      </p:sp>
      <p:sp>
        <p:nvSpPr>
          <p:cNvPr id="7" name="Chevron 6"/>
          <p:cNvSpPr/>
          <p:nvPr/>
        </p:nvSpPr>
        <p:spPr>
          <a:xfrm>
            <a:off x="2578608" y="2743200"/>
            <a:ext cx="228600" cy="411480"/>
          </a:xfrm>
          <a:prstGeom prst="chevron">
            <a:avLst/>
          </a:prstGeom>
          <a:solidFill>
            <a:srgbClr val="5C6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39" y="1828800"/>
            <a:ext cx="2057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34639" y="1828800"/>
            <a:ext cx="73152" cy="2331720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011680"/>
            <a:ext cx="164592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02  ANVAYA Engine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Matches destinations, routes,</a:t>
            </a:r>
            <a:br/>
            <a:r>
              <a:t>experiences and constraints</a:t>
            </a:r>
          </a:p>
        </p:txBody>
      </p:sp>
      <p:sp>
        <p:nvSpPr>
          <p:cNvPr id="11" name="Chevron 10"/>
          <p:cNvSpPr/>
          <p:nvPr/>
        </p:nvSpPr>
        <p:spPr>
          <a:xfrm>
            <a:off x="4910327" y="2743200"/>
            <a:ext cx="228600" cy="411480"/>
          </a:xfrm>
          <a:prstGeom prst="chevron">
            <a:avLst/>
          </a:prstGeom>
          <a:solidFill>
            <a:srgbClr val="5C6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6359" y="1828800"/>
            <a:ext cx="2057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66359" y="1828800"/>
            <a:ext cx="73152" cy="2331720"/>
          </a:xfrm>
          <a:prstGeom prst="rect">
            <a:avLst/>
          </a:prstGeom>
          <a:solidFill>
            <a:srgbClr val="3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59" y="2011680"/>
            <a:ext cx="164592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03  Journey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Personalized route with</a:t>
            </a:r>
            <a:br/>
            <a:r>
              <a:t>lesser-known + cultural stops</a:t>
            </a:r>
          </a:p>
        </p:txBody>
      </p:sp>
      <p:sp>
        <p:nvSpPr>
          <p:cNvPr id="15" name="Chevron 14"/>
          <p:cNvSpPr/>
          <p:nvPr/>
        </p:nvSpPr>
        <p:spPr>
          <a:xfrm>
            <a:off x="7242048" y="2743200"/>
            <a:ext cx="228600" cy="411480"/>
          </a:xfrm>
          <a:prstGeom prst="chevron">
            <a:avLst/>
          </a:prstGeom>
          <a:solidFill>
            <a:srgbClr val="5C6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79" y="1828800"/>
            <a:ext cx="2057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1828800"/>
            <a:ext cx="73152" cy="2331720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011680"/>
            <a:ext cx="164592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04  Experience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Stories, local guides,</a:t>
            </a:r>
            <a:br/>
            <a:r>
              <a:t>crafts, food and activities</a:t>
            </a:r>
          </a:p>
        </p:txBody>
      </p:sp>
      <p:sp>
        <p:nvSpPr>
          <p:cNvPr id="19" name="Chevron 18"/>
          <p:cNvSpPr/>
          <p:nvPr/>
        </p:nvSpPr>
        <p:spPr>
          <a:xfrm>
            <a:off x="9573767" y="2743200"/>
            <a:ext cx="228600" cy="411480"/>
          </a:xfrm>
          <a:prstGeom prst="chevron">
            <a:avLst/>
          </a:prstGeom>
          <a:solidFill>
            <a:srgbClr val="5C6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29800" y="1828800"/>
            <a:ext cx="2057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29800" y="1828800"/>
            <a:ext cx="73152" cy="2331720"/>
          </a:xfrm>
          <a:prstGeom prst="rect">
            <a:avLst/>
          </a:prstGeom>
          <a:solidFill>
            <a:srgbClr val="3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011680"/>
            <a:ext cx="164592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05  Feedback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Ratings + preferences improve</a:t>
            </a:r>
            <a:br/>
            <a:r>
              <a:t>future recommendations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35C"/>
                </a:solidFill>
                <a:latin typeface="Aptos"/>
              </a:defRPr>
            </a:pPr>
            <a:r>
              <a:t>ANVAYA  •  SIH25032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27"/>
                </a:solidFill>
                <a:latin typeface="Aptos Display"/>
              </a:defRPr>
            </a:pPr>
            <a:r>
              <a:t>Our USP — Tourism Footprint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35C"/>
                </a:solidFill>
                <a:latin typeface="Aptos"/>
              </a:defRPr>
            </a:pPr>
            <a:r>
              <a:t>Recommend journeys that are good for the traveller and the destination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73152" cy="3383280"/>
          </a:xfrm>
          <a:prstGeom prst="rect">
            <a:avLst/>
          </a:prstGeom>
          <a:solidFill>
            <a:srgbClr val="3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71800" cy="3063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Beyond Personalization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The recommendation engine considers more than tourist preferences:</a:t>
            </a:r>
            <a:br/>
            <a:br/>
            <a:r>
              <a:t>• Interest match</a:t>
            </a:r>
            <a:br/>
            <a:r>
              <a:t>• Budget &amp; time</a:t>
            </a:r>
            <a:br/>
            <a:r>
              <a:t>• Distance / route efficiency</a:t>
            </a:r>
            <a:br/>
            <a:r>
              <a:t>• Destination pressure</a:t>
            </a:r>
            <a:br/>
            <a:r>
              <a:t>• Environmental sensitivity</a:t>
            </a:r>
            <a:br/>
            <a:r>
              <a:t>• Local community opportunities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554480"/>
            <a:ext cx="73152" cy="3383280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37360"/>
            <a:ext cx="2971800" cy="3063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Responsible Journey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Example:</a:t>
            </a:r>
            <a:br/>
            <a:br/>
            <a:r>
              <a:t>Popular destination → high pressure</a:t>
            </a:r>
            <a:br/>
            <a:br/>
            <a:r>
              <a:t>Lesser-known route → strong interest match + lower pressure + stronger local opportunity</a:t>
            </a:r>
            <a:br/>
            <a:br/>
            <a:r>
              <a:t>ANVAYA can surface the second route as a responsible alternative.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554480"/>
            <a:ext cx="73152" cy="3383280"/>
          </a:xfrm>
          <a:prstGeom prst="rect">
            <a:avLst/>
          </a:prstGeom>
          <a:solidFill>
            <a:srgbClr val="3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37360"/>
            <a:ext cx="2971800" cy="3063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Impact View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For each journey, the platform can show an easy-to-understand footprint / responsibility indicator.</a:t>
            </a:r>
            <a:br/>
            <a:br/>
            <a:r>
              <a:t>This turns “where should I go?” into:</a:t>
            </a:r>
            <a:br/>
            <a:br/>
            <a:r>
              <a:t>“Where should I go — and what impact will my journey create?”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35C"/>
                </a:solidFill>
                <a:latin typeface="Aptos"/>
              </a:defRPr>
            </a:pPr>
            <a:r>
              <a:t>ANVAYA  •  SIH25032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27"/>
                </a:solidFill>
                <a:latin typeface="Aptos Display"/>
              </a:defRPr>
            </a:pPr>
            <a:r>
              <a:t>Core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35C"/>
                </a:solidFill>
                <a:latin typeface="Aptos"/>
              </a:defRPr>
            </a:pPr>
            <a:r>
              <a:t>The first prototype will focus on a small set of demonstrable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1206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1280160"/>
          </a:xfrm>
          <a:prstGeom prst="rect">
            <a:avLst/>
          </a:prstGeom>
          <a:solidFill>
            <a:srgbClr val="3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09159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🧠 Smart Journey Planner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Personalized itinerary based on preferences, budget and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1206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73152" cy="1280160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09159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🗺️ Living Cultural Map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Destinations, hidden gems, stories and experiences.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51206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971800"/>
            <a:ext cx="73152" cy="1280160"/>
          </a:xfrm>
          <a:prstGeom prst="rect">
            <a:avLst/>
          </a:prstGeom>
          <a:solidFill>
            <a:srgbClr val="3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154680"/>
            <a:ext cx="4709159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🌿 Responsibility Layer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Eco / tourism-pressure indicators and alternative routes.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971800"/>
            <a:ext cx="51206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971800"/>
            <a:ext cx="73152" cy="1280160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154680"/>
            <a:ext cx="4709159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🤝 Community Layer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Verified local guides, artisans, homestays and experiences.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26280"/>
            <a:ext cx="51206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526280"/>
            <a:ext cx="73152" cy="1280160"/>
          </a:xfrm>
          <a:prstGeom prst="rect">
            <a:avLst/>
          </a:prstGeom>
          <a:solidFill>
            <a:srgbClr val="3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709160"/>
            <a:ext cx="4709159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🏛️ Cultural Storytelling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Short, accessible stories around places, traditions and people.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526280"/>
            <a:ext cx="51206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526280"/>
            <a:ext cx="73152" cy="1280160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709160"/>
            <a:ext cx="4709159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📊 Tourism Dashboard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Demand, feedback and destination insights for stakeholders.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35C"/>
                </a:solidFill>
                <a:latin typeface="Aptos"/>
              </a:defRPr>
            </a:pPr>
            <a:r>
              <a:t>ANVAYA  •  SIH25032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27"/>
                </a:solidFill>
                <a:latin typeface="Aptos Display"/>
              </a:defRPr>
            </a:pPr>
            <a:r>
              <a:t>High-Level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35C"/>
                </a:solidFill>
                <a:latin typeface="Aptos"/>
              </a:defRPr>
            </a:pPr>
            <a:r>
              <a:t>Prototype architecture — technology choices will be validated during development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73152" cy="1737360"/>
          </a:xfrm>
          <a:prstGeom prst="rect">
            <a:avLst/>
          </a:prstGeom>
          <a:solidFill>
            <a:srgbClr val="3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39"/>
            <a:ext cx="301752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Tourist App / Web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UI • Preferences • Map • Journey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508760"/>
            <a:ext cx="73152" cy="1737360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91639"/>
            <a:ext cx="301752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Backend API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Users • Journeys • Experiences •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50876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80" y="1508760"/>
            <a:ext cx="73152" cy="1737360"/>
          </a:xfrm>
          <a:prstGeom prst="rect">
            <a:avLst/>
          </a:prstGeom>
          <a:solidFill>
            <a:srgbClr val="3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91639"/>
            <a:ext cx="301752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Recommendation Engine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Rules + ML/AI layer • Ranking • Personalization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65760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3657600"/>
            <a:ext cx="73152" cy="1737360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40480"/>
            <a:ext cx="301752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Tourism Data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Destinations • Culture • Routes • Local providers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65760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3657600"/>
            <a:ext cx="73152" cy="1737360"/>
          </a:xfrm>
          <a:prstGeom prst="rect">
            <a:avLst/>
          </a:prstGeom>
          <a:solidFill>
            <a:srgbClr val="3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840480"/>
            <a:ext cx="301752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Maps &amp; Location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Geospatial data • Routing • Nearby discovery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365760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3657600"/>
            <a:ext cx="73152" cy="1737360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840480"/>
            <a:ext cx="301752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Stakeholder Dashboard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Analytics • Trends • Feedback • Content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150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F2D27"/>
                </a:solidFill>
                <a:latin typeface="Aptos"/>
              </a:defRPr>
            </a:pPr>
            <a:r>
              <a:t>Tourist → App → API → Recommendation + Data → Journey / Experience → Feedback → Continuous improvement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35C"/>
                </a:solidFill>
                <a:latin typeface="Aptos"/>
              </a:defRPr>
            </a:pPr>
            <a:r>
              <a:t>ANVAYA  •  SIH25032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27"/>
                </a:solidFill>
                <a:latin typeface="Aptos Display"/>
              </a:defRPr>
            </a:pPr>
            <a:r>
              <a:t>Expected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35C"/>
                </a:solidFill>
                <a:latin typeface="Aptos"/>
              </a:defRPr>
            </a:pPr>
            <a:r>
              <a:t>Measure success beyond downloads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73152" cy="1600200"/>
          </a:xfrm>
          <a:prstGeom prst="rect">
            <a:avLst/>
          </a:prstGeom>
          <a:solidFill>
            <a:srgbClr val="3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306323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For Tourists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Better discovery • personalized journeys • richer cultural context • simpler 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50876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70832" y="1508760"/>
            <a:ext cx="73152" cy="1600200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691639"/>
            <a:ext cx="306323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For Communities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More visibility for local experiences, guides, artisans and homestays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5864" y="150876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55864" y="1508760"/>
            <a:ext cx="73152" cy="1600200"/>
          </a:xfrm>
          <a:prstGeom prst="rect">
            <a:avLst/>
          </a:prstGeom>
          <a:solidFill>
            <a:srgbClr val="3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4" y="1691639"/>
            <a:ext cx="306323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For Jharkhand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Greater discovery of eco-cultural destinations and more balanced tourism growth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42032" y="370332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42032" y="3703320"/>
            <a:ext cx="73152" cy="1600200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0632" y="3886200"/>
            <a:ext cx="306323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For Authorities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Actionable trends, feedback and destination-level insights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370332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3703320"/>
            <a:ext cx="73152" cy="1600200"/>
          </a:xfrm>
          <a:prstGeom prst="rect">
            <a:avLst/>
          </a:prstGeom>
          <a:solidFill>
            <a:srgbClr val="3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3886200"/>
            <a:ext cx="306323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Success Metrics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Engagement • local participation • lesser-known destination discovery • satisfaction • responsible-route adoption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35C"/>
                </a:solidFill>
                <a:latin typeface="Aptos"/>
              </a:defRPr>
            </a:pPr>
            <a:r>
              <a:t>ANVAYA  •  SIH25032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27"/>
                </a:solidFill>
                <a:latin typeface="Aptos Display"/>
              </a:defRPr>
            </a:pPr>
            <a:r>
              <a:t>Roadmap &amp; Mentor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35C"/>
                </a:solidFill>
                <a:latin typeface="Aptos"/>
              </a:defRPr>
            </a:pPr>
            <a:r>
              <a:t>We want to validate the problem before building too much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20574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73152" cy="2926080"/>
          </a:xfrm>
          <a:prstGeom prst="rect">
            <a:avLst/>
          </a:prstGeom>
          <a:solidFill>
            <a:srgbClr val="3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645920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Phase 1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Research &amp; validation</a:t>
            </a:r>
            <a:br/>
            <a:br/>
            <a:r>
              <a:t>Study users, tourism data, existing platforms and official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39" y="1600200"/>
            <a:ext cx="20574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39" y="1600200"/>
            <a:ext cx="73152" cy="2926080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39" y="1783080"/>
            <a:ext cx="1645920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Phase 2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MVP design</a:t>
            </a:r>
            <a:br/>
            <a:br/>
            <a:r>
              <a:t>Finalize USP, user flows, data model and prototype scope.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59" y="1600200"/>
            <a:ext cx="20574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66359" y="1600200"/>
            <a:ext cx="73152" cy="2926080"/>
          </a:xfrm>
          <a:prstGeom prst="rect">
            <a:avLst/>
          </a:prstGeom>
          <a:solidFill>
            <a:srgbClr val="3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59" y="1783080"/>
            <a:ext cx="1645920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Phase 3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Build</a:t>
            </a:r>
            <a:br/>
            <a:br/>
            <a:r>
              <a:t>Frontend + backend + recommendation layer + map/data integration.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600200"/>
            <a:ext cx="20574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1600200"/>
            <a:ext cx="73152" cy="2926080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1783080"/>
            <a:ext cx="1645920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Phase 4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Test</a:t>
            </a:r>
            <a:br/>
            <a:br/>
            <a:r>
              <a:t>Usability testing, recommendation quality and data validation.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1600200"/>
            <a:ext cx="20574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1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29800" y="1600200"/>
            <a:ext cx="73152" cy="2926080"/>
          </a:xfrm>
          <a:prstGeom prst="rect">
            <a:avLst/>
          </a:prstGeom>
          <a:solidFill>
            <a:srgbClr val="36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0" y="1783080"/>
            <a:ext cx="1645920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2D27"/>
                </a:solidFill>
                <a:latin typeface="Aptos Display"/>
              </a:defRPr>
            </a:pPr>
            <a:r>
              <a:t>Phase 5</a:t>
            </a:r>
          </a:p>
          <a:p>
            <a:pPr>
              <a:defRPr sz="1250">
                <a:solidFill>
                  <a:srgbClr val="5C635C"/>
                </a:solidFill>
                <a:latin typeface="Aptos"/>
              </a:defRPr>
            </a:pPr>
            <a:r>
              <a:t>Refine</a:t>
            </a:r>
            <a:br/>
            <a:br/>
            <a:r>
              <a:t>Demo polish, measurable impact, pitch and SIH readiness.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E913E"/>
                </a:solidFill>
                <a:latin typeface="Aptos Display"/>
              </a:defRPr>
            </a:pPr>
            <a:r>
              <a:t>MENTOR QUESTIONS</a:t>
            </a:r>
          </a:p>
          <a:p>
            <a:pPr>
              <a:defRPr sz="1500">
                <a:solidFill>
                  <a:srgbClr val="1F2D27"/>
                </a:solidFill>
                <a:latin typeface="Aptos"/>
              </a:defRPr>
            </a:pPr>
            <a:r>
              <a:t>Is our problem framing valid?  •  Is the USP differentiated enough?  •  Which features should be MVP?  •  What should we validate first?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35C"/>
                </a:solidFill>
                <a:latin typeface="Aptos"/>
              </a:defRPr>
            </a:pPr>
            <a:r>
              <a:t>ANVAYA  •  SIH25032  •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